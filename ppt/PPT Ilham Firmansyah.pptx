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69BA-FE7F-4EA2-A92D-17C6666D2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DE52D-40BD-47B5-AFE6-538B11648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877A3-E756-4059-BF1B-7912D7605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DEDED-9F91-4561-8E8E-8E1BA351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3A73F-91C4-4571-88B9-810A88C8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1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3758-D7E5-4F98-948D-1366DBFB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C7BA7-EA92-4BC1-8489-033D060C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E8268-DFD5-4423-9731-3C8F01A7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06BE4-4328-40A2-9D69-65048A0A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386B8-EB53-4FB7-A43A-03607A939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5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51E1-0A29-4036-8E1F-95AC6CAE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B1364-B560-4125-A0D7-C1B35BEA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5F104-D947-4011-8DF1-24FDD0AE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70116-6BAF-4271-85B5-4453B7CF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733DB-8AEA-403C-9F20-372D05A5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3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5866-38E2-403D-8E98-6F7F3E7C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AEB91-AEFD-48A9-97C8-367C7D16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D3B76-EEC0-43BB-AC8D-2B5D85EB5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6712D-6F13-4B68-B057-F43B0A9EA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7880F-4F66-429D-B294-5F8B3747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0DE36-A52C-4617-9630-0641DA5F5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3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18AE-57E8-4E6A-8997-0F07BBC1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2686B-DA3E-4C68-9C2E-909737313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5A802-76AC-4E02-92CC-3E0135D37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29B4F-3B9C-4B55-92B6-7227C8B87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B275D-3DB5-44F5-AEC2-37271748C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33407-0B0A-4575-9A88-F2E0EEC9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B5EE9-11F7-4D10-96C2-3794AEAA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102CB-C533-4664-9664-B30A88AE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4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2AC6-823F-4ACE-9F3C-124EE2B0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965F8-F348-4664-A086-E3CCCC22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7B255-A5E7-4483-B173-7A3751F5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471EC-A6BB-436B-BE4B-E7482F4C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4363D-C25B-49F5-B1DF-976B6234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3F7D5-3445-4485-B110-58EF445F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4DE07-F769-48E5-BC5C-80615DB0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2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D1E1-AF1A-4C7D-92A2-4D4E8FF4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A9D1E-047D-4926-AFA1-85EE35373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EB47B4-106F-418B-BD28-C7E1C2CBE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CC14-825C-4634-B371-159E92A4B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F2C8E-3652-4A2E-8211-1BA1902B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2D5C4-90D4-4B9D-9DCE-18A2BF67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8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35D3-DEA5-4752-BB58-49D8581CE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B6E4D-E2DC-445E-9005-3DF1F4179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14141-0749-4549-B52E-A3FF6830C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2F31D-C2B0-447C-8F74-18473894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29DDE-1AAE-4830-B8A8-5F0138A2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F4BEB-978D-4B17-ADC3-F9F4316B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9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D8B6-6055-4A16-8B26-DD4D6BAC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978EC-A086-449E-94B3-82FA4013D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C9383-7EC9-4773-880A-790F72FE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64421-C97E-4D6C-B955-8BE47306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0B9BB-9D0B-470D-BB16-09936962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7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B410E-DF4B-415B-AE4E-7042CE4404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6F732-A09E-41DA-B07C-35D7D3D09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7A14-46D9-4266-B208-F5F7802C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4E29-6EA3-4871-8736-F3C86169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6DAF0-F91E-41E1-9634-E744CFA0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9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7DE09-8A1F-499F-9AFE-1F505155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B68E1-FA8C-4C33-BBD1-C68B5BFD3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BF24C-057A-402E-AE0E-D1A1A4787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418FC-056C-4749-B7A7-570691030F62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AB7B8-205F-4497-A93D-1D758F747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3CA1-4A14-4029-AF49-40153AEF6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0C946-F321-45FE-B101-B27BA7641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3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CB9D13-1343-450C-ABFE-5DD647511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6CEE75D-6F1E-4866-97D1-347348376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65550"/>
            <a:ext cx="9144000" cy="1726736"/>
          </a:xfrm>
        </p:spPr>
        <p:txBody>
          <a:bodyPr>
            <a:normAutofit fontScale="92500" lnSpcReduction="20000"/>
          </a:bodyPr>
          <a:lstStyle/>
          <a:p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Ilham Firmansyah, Adelia Rizky Cantika, Nizirwan Anwar</a:t>
            </a:r>
          </a:p>
          <a:p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Presenter: Ilham Firmansyah</a:t>
            </a:r>
          </a:p>
          <a:p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Universitas Esa Unggul</a:t>
            </a:r>
          </a:p>
          <a:p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Prediksi Kelulusan Mahasiswa Berdasarkan Nilai Akademik Menggunakan</a:t>
            </a:r>
          </a:p>
          <a:p>
            <a:r>
              <a:rPr lang="id-ID" sz="2000" dirty="0">
                <a:latin typeface="Arial" panose="020B0604020202020204" pitchFamily="34" charset="0"/>
                <a:cs typeface="Arial" panose="020B0604020202020204" pitchFamily="34" charset="0"/>
              </a:rPr>
              <a:t>Algoritma KNN</a:t>
            </a:r>
          </a:p>
          <a:p>
            <a:endParaRPr lang="id-ID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d-ID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id-ID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D0553-75FF-40AC-9DC2-3D1CE3AC5ADA}"/>
              </a:ext>
            </a:extLst>
          </p:cNvPr>
          <p:cNvSpPr/>
          <p:nvPr/>
        </p:nvSpPr>
        <p:spPr>
          <a:xfrm>
            <a:off x="1524000" y="3790612"/>
            <a:ext cx="919700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b="1" dirty="0">
                <a:solidFill>
                  <a:srgbClr val="FF0000"/>
                </a:solidFill>
                <a:latin typeface="Open Sans"/>
              </a:rPr>
              <a:t>SEMINAR NASIONAL SISTEM INFORMASI DAN TEKNOLOGI</a:t>
            </a:r>
            <a:r>
              <a:rPr lang="en-US" b="1" dirty="0">
                <a:solidFill>
                  <a:srgbClr val="FF0000"/>
                </a:solidFill>
                <a:latin typeface="Open Sans"/>
              </a:rPr>
              <a:t> </a:t>
            </a:r>
            <a:r>
              <a:rPr lang="id-ID" b="1" dirty="0">
                <a:solidFill>
                  <a:srgbClr val="FF0000"/>
                </a:solidFill>
                <a:latin typeface="Open Sans"/>
              </a:rPr>
              <a:t>(SISFOTEK)KE 9 </a:t>
            </a:r>
          </a:p>
          <a:p>
            <a:pPr algn="ctr"/>
            <a:r>
              <a:rPr lang="id-ID" b="1" dirty="0">
                <a:solidFill>
                  <a:srgbClr val="FF0000"/>
                </a:solidFill>
                <a:latin typeface="Open Sans"/>
              </a:rPr>
              <a:t>TAHUN 2025</a:t>
            </a:r>
          </a:p>
          <a:p>
            <a:pPr algn="ctr"/>
            <a:endParaRPr lang="en-US" b="1" dirty="0">
              <a:solidFill>
                <a:srgbClr val="FF0000"/>
              </a:solidFill>
              <a:latin typeface="Open Sans"/>
            </a:endParaRPr>
          </a:p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Penguatan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SDM dan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Transformasi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Digital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</a:p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Kemandirian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Industri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Nasional dan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Sama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 Kawasan ASEAN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Menuju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Indonesia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2045</a:t>
            </a:r>
          </a:p>
          <a:p>
            <a:pPr algn="ctr"/>
            <a:endParaRPr lang="id-ID" b="1" dirty="0">
              <a:solidFill>
                <a:schemeClr val="bg1"/>
              </a:solidFill>
              <a:latin typeface="Open Sans"/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  <a:latin typeface="Open Sans"/>
              </a:rPr>
              <a:t>B</a:t>
            </a:r>
            <a:r>
              <a:rPr lang="id-ID" b="1" dirty="0">
                <a:solidFill>
                  <a:srgbClr val="FF0000"/>
                </a:solidFill>
                <a:latin typeface="Open Sans"/>
              </a:rPr>
              <a:t>atam, 6 November 2025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Open Sans"/>
              </a:rPr>
              <a:t>P</a:t>
            </a:r>
            <a:r>
              <a:rPr lang="id-ID" b="1" dirty="0">
                <a:solidFill>
                  <a:srgbClr val="FF0000"/>
                </a:solidFill>
                <a:latin typeface="Open Sans"/>
              </a:rPr>
              <a:t>oliteknik Negeri Batam</a:t>
            </a:r>
          </a:p>
        </p:txBody>
      </p:sp>
    </p:spTree>
    <p:extLst>
      <p:ext uri="{BB962C8B-B14F-4D97-AF65-F5344CB8AC3E}">
        <p14:creationId xmlns:p14="http://schemas.microsoft.com/office/powerpoint/2010/main" val="300880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209D12-4B34-47E6-B138-3B49FABF8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6CEE75D-6F1E-4866-97D1-347348376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39" y="2187653"/>
            <a:ext cx="10036629" cy="671050"/>
          </a:xfrm>
        </p:spPr>
        <p:txBody>
          <a:bodyPr>
            <a:normAutofit/>
          </a:bodyPr>
          <a:lstStyle/>
          <a:p>
            <a:pPr algn="l"/>
            <a:r>
              <a:rPr lang="id-ID" sz="4000" dirty="0">
                <a:latin typeface="Open Sans"/>
                <a:cs typeface="Arial" panose="020B0604020202020204" pitchFamily="34" charset="0"/>
              </a:rPr>
              <a:t>Pendahuluan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31FEF-977F-6E8A-B87F-B463DFE4AE75}"/>
              </a:ext>
            </a:extLst>
          </p:cNvPr>
          <p:cNvSpPr txBox="1"/>
          <p:nvPr/>
        </p:nvSpPr>
        <p:spPr>
          <a:xfrm>
            <a:off x="440355" y="3059668"/>
            <a:ext cx="91656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Pendidikan </a:t>
            </a:r>
            <a:r>
              <a:rPr lang="en-US" altLang="en-US" dirty="0" err="1">
                <a:latin typeface="Arial" panose="020B0604020202020204" pitchFamily="34" charset="0"/>
              </a:rPr>
              <a:t>tinggi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perlu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menganalisis</a:t>
            </a:r>
            <a:r>
              <a:rPr lang="en-US" altLang="en-US" dirty="0">
                <a:latin typeface="Arial" panose="020B0604020202020204" pitchFamily="34" charset="0"/>
              </a:rPr>
              <a:t> data </a:t>
            </a:r>
            <a:r>
              <a:rPr lang="en-US" altLang="en-US" dirty="0" err="1">
                <a:latin typeface="Arial" panose="020B0604020202020204" pitchFamily="34" charset="0"/>
              </a:rPr>
              <a:t>akademik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mahasiswa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untuk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memprediksi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kelulusan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tepat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waktu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Pihak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kampus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dapat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memanfaatkan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</a:rPr>
              <a:t>machine learning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untuk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mendukung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keputusan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akademik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berbasis</a:t>
            </a:r>
            <a:r>
              <a:rPr lang="en-US" altLang="en-US" dirty="0">
                <a:latin typeface="Arial" panose="020B0604020202020204" pitchFamily="34" charset="0"/>
              </a:rPr>
              <a:t> data.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Beberapa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penelitian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sebelumnya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telah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menggunakan</a:t>
            </a:r>
            <a:r>
              <a:rPr lang="en-US" altLang="en-US" dirty="0">
                <a:latin typeface="Arial" panose="020B0604020202020204" pitchFamily="34" charset="0"/>
              </a:rPr>
              <a:t> KNN </a:t>
            </a:r>
            <a:r>
              <a:rPr lang="en-US" altLang="en-US" dirty="0" err="1">
                <a:latin typeface="Arial" panose="020B0604020202020204" pitchFamily="34" charset="0"/>
              </a:rPr>
              <a:t>untuk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klasifikasi</a:t>
            </a:r>
            <a:r>
              <a:rPr lang="en-US" altLang="en-US" dirty="0">
                <a:latin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</a:rPr>
              <a:t>bidang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pendidikan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  <a:endParaRPr lang="id-ID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Tujuan </a:t>
            </a:r>
            <a:r>
              <a:rPr lang="en-US" altLang="en-US" b="1" dirty="0" err="1">
                <a:latin typeface="Arial" panose="020B0604020202020204" pitchFamily="34" charset="0"/>
              </a:rPr>
              <a:t>penelitian</a:t>
            </a:r>
            <a:r>
              <a:rPr lang="en-US" altLang="en-US" b="1" dirty="0">
                <a:latin typeface="Arial" panose="020B0604020202020204" pitchFamily="34" charset="0"/>
              </a:rPr>
              <a:t>: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 err="1">
                <a:latin typeface="Arial" panose="020B0604020202020204" pitchFamily="34" charset="0"/>
              </a:rPr>
              <a:t>Membangun</a:t>
            </a:r>
            <a:r>
              <a:rPr lang="en-US" altLang="en-US" dirty="0">
                <a:latin typeface="Arial" panose="020B0604020202020204" pitchFamily="34" charset="0"/>
              </a:rPr>
              <a:t> model </a:t>
            </a:r>
            <a:r>
              <a:rPr lang="en-US" altLang="en-US" dirty="0" err="1">
                <a:latin typeface="Arial" panose="020B0604020202020204" pitchFamily="34" charset="0"/>
              </a:rPr>
              <a:t>prediksi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kelulusan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mahasiswa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berdasarkan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IPK</a:t>
            </a:r>
            <a:r>
              <a:rPr lang="en-US" altLang="en-US" dirty="0">
                <a:latin typeface="Arial" panose="020B0604020202020204" pitchFamily="34" charset="0"/>
              </a:rPr>
              <a:t> dan </a:t>
            </a:r>
            <a:r>
              <a:rPr lang="en-US" altLang="en-US" b="1" dirty="0">
                <a:latin typeface="Arial" panose="020B0604020202020204" pitchFamily="34" charset="0"/>
              </a:rPr>
              <a:t>SKS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menggunakan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algoritma</a:t>
            </a:r>
            <a:r>
              <a:rPr lang="en-US" altLang="en-US" dirty="0">
                <a:latin typeface="Arial" panose="020B0604020202020204" pitchFamily="34" charset="0"/>
              </a:rPr>
              <a:t> KNN </a:t>
            </a:r>
            <a:r>
              <a:rPr lang="en-US" altLang="en-US" dirty="0" err="1">
                <a:latin typeface="Arial" panose="020B0604020202020204" pitchFamily="34" charset="0"/>
              </a:rPr>
              <a:t>untuk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menentukan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akurasi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terbaik</a:t>
            </a:r>
            <a:endParaRPr lang="id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26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B509-1F32-8DFD-AEF9-463D4FD1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516165-5A59-7382-8ADD-30B1A840E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DF9407B-0E11-6F20-1810-9A8F7CBF8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39" y="2187653"/>
            <a:ext cx="10036629" cy="671050"/>
          </a:xfrm>
        </p:spPr>
        <p:txBody>
          <a:bodyPr>
            <a:normAutofit/>
          </a:bodyPr>
          <a:lstStyle/>
          <a:p>
            <a:pPr algn="l"/>
            <a:r>
              <a:rPr lang="id-ID" sz="4000" dirty="0">
                <a:latin typeface="Open Sans"/>
                <a:cs typeface="Arial" panose="020B0604020202020204" pitchFamily="34" charset="0"/>
              </a:rPr>
              <a:t>Metode Penelitian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99AEF3-2DED-2BC5-7803-353459D6D0F1}"/>
                  </a:ext>
                </a:extLst>
              </p:cNvPr>
              <p:cNvSpPr txBox="1"/>
              <p:nvPr/>
            </p:nvSpPr>
            <p:spPr>
              <a:xfrm>
                <a:off x="431889" y="2858703"/>
                <a:ext cx="9165657" cy="3474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b="1" dirty="0">
                    <a:latin typeface="Arial" panose="020B0604020202020204" pitchFamily="34" charset="0"/>
                  </a:rPr>
                  <a:t>Data:</a:t>
                </a:r>
                <a:r>
                  <a:rPr lang="en-US" altLang="en-US" dirty="0">
                    <a:latin typeface="Arial" panose="020B0604020202020204" pitchFamily="34" charset="0"/>
                  </a:rPr>
                  <a:t> 50 data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mahasiswa</a:t>
                </a:r>
                <a:r>
                  <a:rPr lang="en-US" altLang="en-US" dirty="0">
                    <a:latin typeface="Arial" panose="020B0604020202020204" pitchFamily="34" charset="0"/>
                  </a:rPr>
                  <a:t> (IPK, SKS, status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kelulusan</a:t>
                </a:r>
                <a:r>
                  <a:rPr lang="en-US" altLang="en-US" dirty="0">
                    <a:latin typeface="Arial" panose="020B0604020202020204" pitchFamily="34" charset="0"/>
                  </a:rPr>
                  <a:t>).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b="1" dirty="0" err="1">
                    <a:latin typeface="Arial" panose="020B0604020202020204" pitchFamily="34" charset="0"/>
                  </a:rPr>
                  <a:t>Tahapan</a:t>
                </a:r>
                <a:r>
                  <a:rPr lang="en-US" altLang="en-US" b="1" dirty="0">
                    <a:latin typeface="Arial" panose="020B0604020202020204" pitchFamily="34" charset="0"/>
                  </a:rPr>
                  <a:t> </a:t>
                </a:r>
                <a:r>
                  <a:rPr lang="en-US" altLang="en-US" b="1" dirty="0" err="1">
                    <a:latin typeface="Arial" panose="020B0604020202020204" pitchFamily="34" charset="0"/>
                  </a:rPr>
                  <a:t>penelitian</a:t>
                </a:r>
                <a:r>
                  <a:rPr lang="en-US" altLang="en-US" b="1" dirty="0">
                    <a:latin typeface="Arial" panose="020B0604020202020204" pitchFamily="34" charset="0"/>
                  </a:rPr>
                  <a:t>:</a:t>
                </a:r>
                <a:endParaRPr lang="id-ID" altLang="en-US" b="1" dirty="0">
                  <a:latin typeface="Arial" panose="020B0604020202020204" pitchFamily="34" charset="0"/>
                </a:endParaRP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id-ID" altLang="en-US" dirty="0">
                    <a:latin typeface="Arial" panose="020B0604020202020204" pitchFamily="34" charset="0"/>
                  </a:rPr>
                  <a:t>1.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Pengumpulan</a:t>
                </a:r>
                <a:r>
                  <a:rPr lang="en-US" altLang="en-US" dirty="0">
                    <a:latin typeface="Arial" panose="020B0604020202020204" pitchFamily="34" charset="0"/>
                  </a:rPr>
                  <a:t> data</a:t>
                </a:r>
                <a:endParaRPr lang="id-ID" altLang="en-US" dirty="0">
                  <a:latin typeface="Arial" panose="020B0604020202020204" pitchFamily="34" charset="0"/>
                </a:endParaRP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id-ID" altLang="en-US" dirty="0">
                    <a:latin typeface="Arial" panose="020B0604020202020204" pitchFamily="34" charset="0"/>
                  </a:rPr>
                  <a:t>2.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Praproses</a:t>
                </a:r>
                <a:r>
                  <a:rPr lang="en-US" altLang="en-US" dirty="0">
                    <a:latin typeface="Arial" panose="020B0604020202020204" pitchFamily="34" charset="0"/>
                  </a:rPr>
                  <a:t> data</a:t>
                </a:r>
                <a:endParaRPr lang="id-ID" altLang="en-US" dirty="0">
                  <a:latin typeface="Arial" panose="020B0604020202020204" pitchFamily="34" charset="0"/>
                </a:endParaRP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id-ID" altLang="en-US" dirty="0">
                    <a:latin typeface="Arial" panose="020B0604020202020204" pitchFamily="34" charset="0"/>
                  </a:rPr>
                  <a:t>3.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Implementasi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algoritma</a:t>
                </a:r>
                <a:r>
                  <a:rPr lang="en-US" altLang="en-US" dirty="0">
                    <a:latin typeface="Arial" panose="020B0604020202020204" pitchFamily="34" charset="0"/>
                  </a:rPr>
                  <a:t> KNN</a:t>
                </a:r>
                <a:endParaRPr lang="id-ID" altLang="en-US" dirty="0">
                  <a:latin typeface="Arial" panose="020B0604020202020204" pitchFamily="34" charset="0"/>
                </a:endParaRP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id-ID" altLang="en-US" dirty="0">
                    <a:latin typeface="Arial" panose="020B0604020202020204" pitchFamily="34" charset="0"/>
                  </a:rPr>
                  <a:t>4. Testing</a:t>
                </a:r>
                <a:br>
                  <a:rPr lang="en-US" altLang="en-US" dirty="0">
                    <a:latin typeface="Arial" panose="020B0604020202020204" pitchFamily="34" charset="0"/>
                  </a:rPr>
                </a:br>
                <a:r>
                  <a:rPr lang="id-ID" altLang="en-US" dirty="0">
                    <a:latin typeface="Arial" panose="020B0604020202020204" pitchFamily="34" charset="0"/>
                  </a:rPr>
                  <a:t>5.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Evaluasi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akurasi</a:t>
                </a:r>
                <a:endParaRPr lang="en-US" altLang="en-US" dirty="0">
                  <a:latin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b="1" dirty="0" err="1">
                    <a:latin typeface="Arial" panose="020B0604020202020204" pitchFamily="34" charset="0"/>
                  </a:rPr>
                  <a:t>Algoritma</a:t>
                </a:r>
                <a:r>
                  <a:rPr lang="en-US" altLang="en-US" b="1" dirty="0">
                    <a:latin typeface="Arial" panose="020B0604020202020204" pitchFamily="34" charset="0"/>
                  </a:rPr>
                  <a:t>: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i="1" dirty="0">
                    <a:latin typeface="Arial" panose="020B0604020202020204" pitchFamily="34" charset="0"/>
                  </a:rPr>
                  <a:t>K-Nearest Neighbor (KNN)</a:t>
                </a:r>
                <a:endParaRPr lang="id-ID" altLang="en-US" i="1" dirty="0">
                  <a:latin typeface="Arial" panose="020B0604020202020204" pitchFamily="34" charset="0"/>
                </a:endParaRPr>
              </a:p>
              <a:p>
                <a:pPr marL="742950" lvl="1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 err="1">
                    <a:latin typeface="Arial" panose="020B0604020202020204" pitchFamily="34" charset="0"/>
                  </a:rPr>
                  <a:t>Menentukan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kelas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berdasarkan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mayoritas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tetangga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terdekat</a:t>
                </a:r>
                <a:r>
                  <a:rPr lang="en-US" altLang="en-US" dirty="0">
                    <a:latin typeface="Arial" panose="020B0604020202020204" pitchFamily="34" charset="0"/>
                  </a:rPr>
                  <a:t>.</a:t>
                </a:r>
              </a:p>
              <a:p>
                <a:pPr marL="742950" lvl="1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dirty="0">
                    <a:latin typeface="Arial" panose="020B0604020202020204" pitchFamily="34" charset="0"/>
                  </a:rPr>
                  <a:t>Jarak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dihitung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dirty="0" err="1">
                    <a:latin typeface="Arial" panose="020B0604020202020204" pitchFamily="34" charset="0"/>
                  </a:rPr>
                  <a:t>dengan</a:t>
                </a:r>
                <a:r>
                  <a:rPr lang="en-US" altLang="en-US" dirty="0">
                    <a:latin typeface="Arial" panose="020B0604020202020204" pitchFamily="34" charset="0"/>
                  </a:rPr>
                  <a:t> </a:t>
                </a:r>
                <a:r>
                  <a:rPr lang="en-US" altLang="en-US" i="1" dirty="0">
                    <a:latin typeface="Arial" panose="020B0604020202020204" pitchFamily="34" charset="0"/>
                  </a:rPr>
                  <a:t>Euclidean Distance</a:t>
                </a:r>
                <a:r>
                  <a:rPr lang="en-US" altLang="en-US" dirty="0">
                    <a:latin typeface="Arial" panose="020B0604020202020204" pitchFamily="34" charset="0"/>
                  </a:rPr>
                  <a:t>: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i="1" dirty="0" err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s-ES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s-ES" dirty="0">
                              <a:latin typeface="Cambria Math" panose="02040503050406030204" pitchFamily="18" charset="0"/>
                            </a:rPr>
                            <m:t>1​−</m:t>
                          </m:r>
                          <m:r>
                            <m:rPr>
                              <m:sty m:val="p"/>
                            </m:rPr>
                            <a:rPr lang="es-ES" dirty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s-ES" dirty="0">
                              <a:latin typeface="Cambria Math" panose="02040503050406030204" pitchFamily="18" charset="0"/>
                            </a:rPr>
                            <m:t>1​)2+(</m:t>
                          </m:r>
                          <m:r>
                            <m:rPr>
                              <m:sty m:val="p"/>
                            </m:rPr>
                            <a:rPr lang="es-ES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s-ES" dirty="0">
                              <a:latin typeface="Cambria Math" panose="02040503050406030204" pitchFamily="18" charset="0"/>
                            </a:rPr>
                            <m:t>2​−</m:t>
                          </m:r>
                          <m:r>
                            <m:rPr>
                              <m:sty m:val="p"/>
                            </m:rPr>
                            <a:rPr lang="es-ES" dirty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s-ES" dirty="0">
                              <a:latin typeface="Cambria Math" panose="02040503050406030204" pitchFamily="18" charset="0"/>
                            </a:rPr>
                            <m:t>2​)2​ </m:t>
                          </m:r>
                        </m:e>
                      </m:rad>
                    </m:oMath>
                  </m:oMathPara>
                </a14:m>
                <a:endParaRPr lang="id-ID" altLang="en-US" dirty="0">
                  <a:latin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ID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Tools:</a:t>
                </a:r>
                <a:r>
                  <a:rPr lang="en-ID" dirty="0">
                    <a:latin typeface="Arial" panose="020B0604020202020204" pitchFamily="34" charset="0"/>
                    <a:cs typeface="Arial" panose="020B0604020202020204" pitchFamily="34" charset="0"/>
                  </a:rPr>
                  <a:t> Python (VS Code), pandas, scikit-learn, matplotlib.</a:t>
                </a:r>
                <a:endParaRPr lang="en-US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99AEF3-2DED-2BC5-7803-353459D6D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89" y="2858703"/>
                <a:ext cx="9165657" cy="3474734"/>
              </a:xfrm>
              <a:prstGeom prst="rect">
                <a:avLst/>
              </a:prstGeom>
              <a:blipFill>
                <a:blip r:embed="rId3"/>
                <a:stretch>
                  <a:fillRect l="-466" t="-1053" b="-19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DA607C2-58E8-D112-BD26-C47995A65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687" y="2107932"/>
            <a:ext cx="1225718" cy="442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7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065D7-F88E-B54A-D726-C116BF45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2D212-B44D-D277-1C61-3C4CC3F1F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D8C06C3-5C41-B536-8D46-56CBB86D2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39" y="2187653"/>
            <a:ext cx="10036629" cy="671050"/>
          </a:xfrm>
        </p:spPr>
        <p:txBody>
          <a:bodyPr>
            <a:normAutofit/>
          </a:bodyPr>
          <a:lstStyle/>
          <a:p>
            <a:pPr algn="l"/>
            <a:r>
              <a:rPr lang="id-ID" sz="4000" dirty="0">
                <a:latin typeface="Open Sans"/>
                <a:cs typeface="Arial" panose="020B0604020202020204" pitchFamily="34" charset="0"/>
              </a:rPr>
              <a:t>Analisis dan Hasil Penelitian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51C41-1A21-42F3-D70D-686093CEC87A}"/>
              </a:ext>
            </a:extLst>
          </p:cNvPr>
          <p:cNvSpPr txBox="1"/>
          <p:nvPr/>
        </p:nvSpPr>
        <p:spPr>
          <a:xfrm>
            <a:off x="353728" y="2798367"/>
            <a:ext cx="91656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Data </a:t>
            </a:r>
            <a:r>
              <a:rPr lang="en-US" altLang="en-US" dirty="0" err="1">
                <a:latin typeface="Arial" panose="020B0604020202020204" pitchFamily="34" charset="0"/>
              </a:rPr>
              <a:t>dibagi</a:t>
            </a:r>
            <a:r>
              <a:rPr lang="en-US" altLang="en-US" dirty="0">
                <a:latin typeface="Arial" panose="020B0604020202020204" pitchFamily="34" charset="0"/>
              </a:rPr>
              <a:t>: 70% training, 30% testing.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Uji </a:t>
            </a:r>
            <a:r>
              <a:rPr lang="en-US" altLang="en-US" dirty="0" err="1">
                <a:latin typeface="Arial" panose="020B0604020202020204" pitchFamily="34" charset="0"/>
              </a:rPr>
              <a:t>beberapa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nilai</a:t>
            </a:r>
            <a:r>
              <a:rPr lang="en-US" altLang="en-US" dirty="0">
                <a:latin typeface="Arial" panose="020B0604020202020204" pitchFamily="34" charset="0"/>
              </a:rPr>
              <a:t> K: 1, 3, 5, 7, dan 9.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Tabel </a:t>
            </a:r>
            <a:r>
              <a:rPr lang="en-US" altLang="en-US" b="1" dirty="0" err="1">
                <a:latin typeface="Arial" panose="020B0604020202020204" pitchFamily="34" charset="0"/>
              </a:rPr>
              <a:t>hasil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akurasi</a:t>
            </a:r>
            <a:r>
              <a:rPr lang="en-US" altLang="en-US" b="1" dirty="0">
                <a:latin typeface="Arial" panose="020B0604020202020204" pitchFamily="34" charset="0"/>
              </a:rPr>
              <a:t>:</a:t>
            </a:r>
            <a:endParaRPr lang="id-ID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A40E84-E562-7184-E104-843227188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10383"/>
              </p:ext>
            </p:extLst>
          </p:nvPr>
        </p:nvGraphicFramePr>
        <p:xfrm>
          <a:off x="353728" y="377388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941841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607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Nilai 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Akurasi (%)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61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87.0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02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90.0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53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88.0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323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7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84.0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70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9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80.0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665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84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C87B-A7AE-4A48-B53F-EDB05D29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C722DE-1DB0-ACD7-48EF-877280307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2648903-2710-DC93-E868-F665113BE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39" y="2187653"/>
            <a:ext cx="10036629" cy="671050"/>
          </a:xfrm>
        </p:spPr>
        <p:txBody>
          <a:bodyPr>
            <a:normAutofit/>
          </a:bodyPr>
          <a:lstStyle/>
          <a:p>
            <a:pPr algn="l"/>
            <a:r>
              <a:rPr lang="id-ID" sz="4000" dirty="0">
                <a:latin typeface="Open Sans"/>
                <a:cs typeface="Arial" panose="020B0604020202020204" pitchFamily="34" charset="0"/>
              </a:rPr>
              <a:t>Analisis dan Hasil Penelitian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6E909-A6E1-CED5-75F8-B0D41C828AB5}"/>
              </a:ext>
            </a:extLst>
          </p:cNvPr>
          <p:cNvSpPr txBox="1"/>
          <p:nvPr/>
        </p:nvSpPr>
        <p:spPr>
          <a:xfrm>
            <a:off x="440355" y="3059668"/>
            <a:ext cx="91656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Grafik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menunjukkan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pola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penurunan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akurasi</a:t>
            </a:r>
            <a:r>
              <a:rPr lang="en-US" altLang="en-US" dirty="0">
                <a:latin typeface="Arial" panose="020B0604020202020204" pitchFamily="34" charset="0"/>
              </a:rPr>
              <a:t> pada K &gt; 3.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Model KNN </a:t>
            </a:r>
            <a:r>
              <a:rPr lang="en-US" altLang="en-US" dirty="0" err="1">
                <a:latin typeface="Arial" panose="020B0604020202020204" pitchFamily="34" charset="0"/>
              </a:rPr>
              <a:t>cukup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stabil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dengan</a:t>
            </a:r>
            <a:r>
              <a:rPr lang="en-US" altLang="en-US" dirty="0">
                <a:latin typeface="Arial" panose="020B0604020202020204" pitchFamily="34" charset="0"/>
              </a:rPr>
              <a:t> data </a:t>
            </a:r>
            <a:r>
              <a:rPr lang="en-US" altLang="en-US" dirty="0" err="1">
                <a:latin typeface="Arial" panose="020B0604020202020204" pitchFamily="34" charset="0"/>
              </a:rPr>
              <a:t>kecil</a:t>
            </a:r>
            <a:r>
              <a:rPr lang="en-US" altLang="en-US" dirty="0">
                <a:latin typeface="Arial" panose="020B0604020202020204" pitchFamily="34" charset="0"/>
              </a:rPr>
              <a:t> (n=50).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Cocok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untuk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sistem</a:t>
            </a:r>
            <a:r>
              <a:rPr lang="en-US" altLang="en-US" dirty="0">
                <a:latin typeface="Arial" panose="020B0604020202020204" pitchFamily="34" charset="0"/>
              </a:rPr>
              <a:t> monitoring </a:t>
            </a:r>
            <a:r>
              <a:rPr lang="en-US" altLang="en-US" dirty="0" err="1">
                <a:latin typeface="Arial" panose="020B0604020202020204" pitchFamily="34" charset="0"/>
              </a:rPr>
              <a:t>akademik</a:t>
            </a:r>
            <a:r>
              <a:rPr lang="en-US" altLang="en-US" dirty="0">
                <a:latin typeface="Arial" panose="020B0604020202020204" pitchFamily="34" charset="0"/>
              </a:rPr>
              <a:t> di </a:t>
            </a:r>
            <a:r>
              <a:rPr lang="en-US" altLang="en-US" dirty="0" err="1">
                <a:latin typeface="Arial" panose="020B0604020202020204" pitchFamily="34" charset="0"/>
              </a:rPr>
              <a:t>kampus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A61E2-CA42-F427-3A72-052592BD8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665" y="2765568"/>
            <a:ext cx="4328694" cy="312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0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23AB-650A-274E-3071-1F8E41D91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FAF134-790C-F79E-ED5C-72F31677F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B25ADF19-0267-0DC1-6AE6-B1E1CD1F7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39" y="2187653"/>
            <a:ext cx="10036629" cy="671050"/>
          </a:xfrm>
        </p:spPr>
        <p:txBody>
          <a:bodyPr>
            <a:normAutofit/>
          </a:bodyPr>
          <a:lstStyle/>
          <a:p>
            <a:pPr algn="l"/>
            <a:r>
              <a:rPr lang="id-ID" sz="4000" dirty="0">
                <a:latin typeface="Open Sans"/>
                <a:cs typeface="Arial" panose="020B0604020202020204" pitchFamily="34" charset="0"/>
              </a:rPr>
              <a:t>Kesimpulan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3EB13-82BC-894F-BC14-A8AFC1BA8FB4}"/>
              </a:ext>
            </a:extLst>
          </p:cNvPr>
          <p:cNvSpPr txBox="1"/>
          <p:nvPr/>
        </p:nvSpPr>
        <p:spPr>
          <a:xfrm>
            <a:off x="440355" y="3059668"/>
            <a:ext cx="91656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Algoritma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KNN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mampu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memprediksi</a:t>
            </a:r>
            <a:r>
              <a:rPr lang="en-US" altLang="en-US" dirty="0">
                <a:latin typeface="Arial" panose="020B0604020202020204" pitchFamily="34" charset="0"/>
              </a:rPr>
              <a:t> status </a:t>
            </a:r>
            <a:r>
              <a:rPr lang="en-US" altLang="en-US" dirty="0" err="1">
                <a:latin typeface="Arial" panose="020B0604020202020204" pitchFamily="34" charset="0"/>
              </a:rPr>
              <a:t>kelulusan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mahasiswa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berdasarkan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IPK dan SKS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Nilai </a:t>
            </a:r>
            <a:r>
              <a:rPr lang="en-US" altLang="en-US" b="1" dirty="0">
                <a:latin typeface="Arial" panose="020B0604020202020204" pitchFamily="34" charset="0"/>
              </a:rPr>
              <a:t>K=3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memberikan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akurasi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terbaik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sebesar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</a:rPr>
              <a:t>90%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Model </a:t>
            </a:r>
            <a:r>
              <a:rPr lang="en-US" altLang="en-US" dirty="0" err="1">
                <a:latin typeface="Arial" panose="020B0604020202020204" pitchFamily="34" charset="0"/>
              </a:rPr>
              <a:t>ini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sederhana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latin typeface="Arial" panose="020B0604020202020204" pitchFamily="34" charset="0"/>
              </a:rPr>
              <a:t>mudah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diterapkan</a:t>
            </a:r>
            <a:r>
              <a:rPr lang="en-US" altLang="en-US" dirty="0">
                <a:latin typeface="Arial" panose="020B0604020202020204" pitchFamily="34" charset="0"/>
              </a:rPr>
              <a:t>, dan </a:t>
            </a:r>
            <a:r>
              <a:rPr lang="en-US" altLang="en-US" dirty="0" err="1">
                <a:latin typeface="Arial" panose="020B0604020202020204" pitchFamily="34" charset="0"/>
              </a:rPr>
              <a:t>bisa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dikembangkan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untuk</a:t>
            </a:r>
            <a:r>
              <a:rPr lang="en-US" altLang="en-US" dirty="0">
                <a:latin typeface="Arial" panose="020B0604020202020204" pitchFamily="34" charset="0"/>
              </a:rPr>
              <a:t> data </a:t>
            </a:r>
            <a:r>
              <a:rPr lang="en-US" altLang="en-US" dirty="0" err="1">
                <a:latin typeface="Arial" panose="020B0604020202020204" pitchFamily="34" charset="0"/>
              </a:rPr>
              <a:t>akademik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lebih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besar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57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329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Ilham Firmansyah</cp:lastModifiedBy>
  <cp:revision>6</cp:revision>
  <dcterms:created xsi:type="dcterms:W3CDTF">2025-10-28T11:45:44Z</dcterms:created>
  <dcterms:modified xsi:type="dcterms:W3CDTF">2025-11-05T12:31:16Z</dcterms:modified>
</cp:coreProperties>
</file>